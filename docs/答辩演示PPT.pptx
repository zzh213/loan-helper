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9" r:id="rId20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D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3810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  <a:latin typeface="微软雅黑"/>
                <a:ea typeface="微软雅黑"/>
              </a:rPr>
              <a:t>小微贷管家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>
                <a:solidFill>
                  <a:srgbClr val="BFD0E8"/>
                </a:solidFill>
                <a:latin typeface="微软雅黑"/>
                <a:ea typeface="微软雅黑"/>
              </a:rPr>
              <a:t>给小微企业主的「贷款翻译官」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C8D4E4"/>
                </a:solidFill>
                <a:latin typeface="微软雅黑"/>
                <a:ea typeface="微软雅黑"/>
              </a:rPr>
              <a:t>汇报人：XXX    导师：XXX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9FB4CE"/>
                </a:solidFill>
                <a:latin typeface="微软雅黑"/>
                <a:ea typeface="微软雅黑"/>
              </a:rPr>
              <a:t>实习结项答辩 · 2026.07</a:t>
            </a:r>
          </a:p>
          <a:p>
            <a:pPr algn="ctr"/>
            <a:r>
              <a:rPr sz="1500" b="0">
                <a:solidFill>
                  <a:srgbClr val="9FB4CE"/>
                </a:solidFill>
                <a:latin typeface="微软雅黑"/>
                <a:ea typeface="微软雅黑"/>
              </a:rPr>
              <a:t>在线体验：loan-helper-665l.onrender.com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1 · 我发现的问题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F5B8C"/>
                </a:solidFill>
                <a:latin typeface="微软雅黑"/>
                <a:ea typeface="微软雅黑"/>
              </a:rPr>
              <a:t>小微企业融资,卡在三个「不知道」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背景:小微企业贡献全国 60% GDP、80% 城镇就业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不知道自己能不能贷、能贷多少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不知道该找谁、会不会被拒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看不懂银行的专业话术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本质:普通经营者与金融机构之间的信息不对称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微软雅黑"/>
                <a:ea typeface="微软雅黑"/>
              </a:rPr>
              <a:t>口述:真正卡住他们的不是没有产品,而是三个「不知道」——一场信息不对称。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2 · 目标用户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F5B8C"/>
                </a:solidFill>
                <a:latin typeface="微软雅黑"/>
                <a:ea typeface="微软雅黑"/>
              </a:rPr>
              <a:t>我为谁而做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核心用户:小微企业主(主)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延伸用户:有融资需求的个人(次)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潜在 B 端:信贷经理 / 助贷机构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核心诉求:「别让我做金融专家,直接告诉我答案,而且我要看得懂、能照做」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微软雅黑"/>
                <a:ea typeface="微软雅黑"/>
              </a:rPr>
              <a:t>口述:这句话是我整个产品设计的出发点。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3 · 解决方案总览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F5B8C"/>
                </a:solidFill>
                <a:latin typeface="微软雅黑"/>
                <a:ea typeface="微软雅黑"/>
              </a:rPr>
              <a:t>一条主线,串起所有能力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主线:破除信息不对称 → 用大白话建立信任 → 手把手走完融资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看得懂:说人话版解读 + 名词小课堂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算得清:额度/利率/月供估算,方案对比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办得成:材料清单、申请记录、进度跟踪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拿实惠:匹配贴息补贴政策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敢信任:风控评估透明可解释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微软雅黑"/>
                <a:ea typeface="微软雅黑"/>
              </a:rPr>
              <a:t>口述:我没有堆功能,而是用一条主线串起五层能力。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4 · 产品取舍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7D5B"/>
                </a:solidFill>
                <a:latin typeface="微软雅黑"/>
                <a:ea typeface="微软雅黑"/>
              </a:rPr>
              <a:t>降低认知负荷 &gt; 展示功能全面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问题:一次性铺开所有结果 → 信息过载,吓退用户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决策:首屏只给「一句话结论 + 最优方案」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其余风控/对比/补贴收进「查看更多」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原则:克制地展示,比展示得全面更重要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微软雅黑"/>
                <a:ea typeface="微软雅黑"/>
              </a:rPr>
              <a:t>口述:克制,是产品力的第一课。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5 · 产品取舍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A2E"/>
                </a:solidFill>
                <a:latin typeface="微软雅黑"/>
                <a:ea typeface="微软雅黑"/>
              </a:rPr>
              <a:t>把「专业」翻译成「信任」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洞察:用户真正的痛点是「看不懂、不敢试」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设计:说人话版解读 + 名词小课堂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它不是普通功能,而是产品的情感内核与差异化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谁能把专业翻译成人话,谁就赢得信任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信任,是金融产品的第一入口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微软雅黑"/>
                <a:ea typeface="微软雅黑"/>
              </a:rPr>
              <a:t>口述:这是我最得意的设计。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6 · 产品取舍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7D5B"/>
                </a:solidFill>
                <a:latin typeface="微软雅黑"/>
                <a:ea typeface="微软雅黑"/>
              </a:rPr>
              <a:t>在合适的地方用合适的技术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核心推荐:确定性规则 —— 稳定、零成本、可解释、可复现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金融场景尤其需要可审计、结果可复现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开放问答:才接入大模型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不为追热点而堆砌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微软雅黑"/>
                <a:ea typeface="微软雅黑"/>
              </a:rPr>
              <a:t>口述:在合适的地方用合适的技术,而不是处处堆 AI。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7 · 用数据说话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D66"/>
                </a:solidFill>
                <a:latin typeface="微软雅黑"/>
                <a:ea typeface="微软雅黑"/>
              </a:rPr>
              <a:t>我怎么知道它有用?——自建数据看板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高光不是「我做了功能」,而是「我怎么知道它有用」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亲手搭建埋点系统 + 数据看板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北极星指标:完成匹配并留资的有效用户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六步转化漏斗:访问→填表→提交→看到方案→展开详情→留资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看板自动标出流失最严重的一环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微软雅黑"/>
                <a:ea typeface="微软雅黑"/>
              </a:rPr>
              <a:t>口述:这是产品经理的核心能力——用数据驱动决策。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8 · 一个完整的迭代案例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F5B8C"/>
                </a:solidFill>
                <a:latin typeface="微软雅黑"/>
                <a:ea typeface="微软雅黑"/>
              </a:rPr>
              <a:t>数据驱动闭环:假设 → 验证 → 迭代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① 发现问题:结果页信息过载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② 提出假设:首屏聚焦能提升深度浏览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③ 落地:精简版 + 查看更多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④ 埋点验证:追踪「展开详情」「名词小课堂」点击率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⑤ 再迭代:据数据决定下一步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微软雅黑"/>
                <a:ea typeface="微软雅黑"/>
              </a:rPr>
              <a:t>口述:一个完整的「假设—验证—迭代」闭环。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9 · 技术与工程能力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D66"/>
                </a:solidFill>
                <a:latin typeface="微软雅黑"/>
                <a:ea typeface="微软雅黑"/>
              </a:rPr>
              <a:t>端到端独立交付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10 天 · 40 次提交 · 约 1.4 万行手写代码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50 个 API 接口 · 41 项自动化测试全通过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双数据库后端(SQLite / Postgres)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接口限流 · 安全响应头 · 静态缓存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做成可安装的 PWA,已部署上线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微软雅黑"/>
                <a:ea typeface="微软雅黑"/>
              </a:rPr>
              <a:t>口述:它不是原型,而是真实可用、已上线的产品。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10 · 商业模式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F5B8C"/>
                </a:solidFill>
                <a:latin typeface="微软雅黑"/>
                <a:ea typeface="微软雅黑"/>
              </a:rPr>
              <a:t>这门生意怎么转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主模式:助贷获客(CPA/CPS)—— 免费产品产生高质量线索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分发给持牌机构,按有效对接/成功放款分成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关键:不放贷、不碰资金,只做撮合,规避牌照风险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第二曲线:给信贷经理的 SaaS 工具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数据飞轮:用户越多 → 数据越多 → 匹配越准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微软雅黑"/>
                <a:ea typeface="微软雅黑"/>
              </a:rPr>
              <a:t>口述:主模式 + 第二曲线 + 数据飞轮。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8A4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11 · 成长与反思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8A4F2E"/>
                </a:solidFill>
                <a:latin typeface="微软雅黑"/>
                <a:ea typeface="微软雅黑"/>
              </a:rPr>
              <a:t>我的收获与不足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收获:从「做功能」转变为「做产品」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养成数据驱动习惯,首次独立打通产品全流程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不足:当前数据多为示意性整理,商业化前需对接真实数据源做合规审查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不足:还缺少真实用户访谈验证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微软雅黑"/>
                <a:ea typeface="微软雅黑"/>
              </a:rPr>
              <a:t>▪  这些是我下一步要补的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微软雅黑"/>
                <a:ea typeface="微软雅黑"/>
              </a:rPr>
              <a:t>口述:清楚自己的不足,比夸大成绩更重要。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D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3810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谢谢 · 欢迎体验与提问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C8D4E4"/>
                </a:solidFill>
                <a:latin typeface="微软雅黑"/>
                <a:ea typeface="微软雅黑"/>
              </a:rPr>
              <a:t>Roadmap:近期补齐信任与转化闭环</a:t>
            </a:r>
          </a:p>
          <a:p>
            <a:pPr algn="ctr">
              <a:spcAft>
                <a:spcPts val="2000"/>
              </a:spcAft>
            </a:pPr>
            <a:r>
              <a:rPr sz="1800" b="0">
                <a:solidFill>
                  <a:srgbClr val="C8D4E4"/>
                </a:solidFill>
                <a:latin typeface="微软雅黑"/>
                <a:ea typeface="微软雅黑"/>
              </a:rPr>
              <a:t>中期:增长与 A/B 实验    远期:机构对接 + SaaS 白标</a:t>
            </a:r>
          </a:p>
          <a:p>
            <a:pPr algn="ctr"/>
            <a:r>
              <a:rPr sz="1700" b="1">
                <a:solidFill>
                  <a:srgbClr val="BFD0E8"/>
                </a:solidFill>
                <a:latin typeface="微软雅黑"/>
                <a:ea typeface="微软雅黑"/>
              </a:rPr>
              <a:t>在线体验:loan-helper-665l.onrender.com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项目挑战与应对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576218" cy="484632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576218" cy="56692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576218" cy="56692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🚀 部署上线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335676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• 临时隧道关机即失效 → 转为部署上云</a:t>
            </a:r>
          </a:p>
          <a:p>
            <a:pPr>
              <a:spcAft>
                <a:spcPts val="900"/>
              </a:spcAft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• 平台碰壁(403/收费) → 选定免费 Render</a:t>
            </a:r>
          </a:p>
          <a:p>
            <a:pPr>
              <a:spcAft>
                <a:spcPts val="900"/>
              </a:spcAft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• 无账号+推送卡登录 → 令牌鉴权且不残留</a:t>
            </a:r>
          </a:p>
          <a:p>
            <a:pPr>
              <a:spcAft>
                <a:spcPts val="900"/>
              </a:spcAft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• 免费实例休眠 → 演示前先唤醒</a:t>
            </a:r>
          </a:p>
          <a:p>
            <a:pPr>
              <a:spcAft>
                <a:spcPts val="900"/>
              </a:spcAft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• 更新繁琐 → 一键部署脚本自动化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7738" y="1417320"/>
            <a:ext cx="3576218" cy="484632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7738" y="1417320"/>
            <a:ext cx="3576218" cy="566928"/>
          </a:xfrm>
          <a:prstGeom prst="rect">
            <a:avLst/>
          </a:prstGeom>
          <a:solidFill>
            <a:srgbClr val="2F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7738" y="1417320"/>
            <a:ext cx="3576218" cy="56692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🎯 产品交互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7466" y="2103120"/>
            <a:ext cx="335676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• 结果页信息过载 → 精简版+查看更多</a:t>
            </a:r>
          </a:p>
          <a:p>
            <a:pPr>
              <a:spcAft>
                <a:spcPts val="900"/>
              </a:spcAft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• 看不懂专业话术 → 说人话版+名词小课堂</a:t>
            </a:r>
          </a:p>
          <a:p>
            <a:pPr>
              <a:spcAft>
                <a:spcPts val="900"/>
              </a:spcAft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• 城市区县列表不全 → 补全区县数据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417320"/>
            <a:ext cx="3576218" cy="484632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58276" y="1417320"/>
            <a:ext cx="3576218" cy="566928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8276" y="1417320"/>
            <a:ext cx="3576218" cy="56692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🛠 技术代码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8004" y="2103120"/>
            <a:ext cx="335676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• 风控框重复渲染 → 定位并删重复代码</a:t>
            </a:r>
          </a:p>
          <a:p>
            <a:pPr>
              <a:spcAft>
                <a:spcPts val="900"/>
              </a:spcAft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• 合规红线夸大宣传 → 改词+固定免责声明</a:t>
            </a:r>
          </a:p>
          <a:p>
            <a:pPr>
              <a:spcAft>
                <a:spcPts val="900"/>
              </a:spcAft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• 该不该全用AI → 核心用确定性规则引擎</a:t>
            </a:r>
          </a:p>
          <a:p>
            <a:pPr>
              <a:spcAft>
                <a:spcPts val="900"/>
              </a:spcAft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• 如何证明有用 → 自建埋点+转化漏斗看板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r>
              <a:rPr sz="1200" b="0">
                <a:solidFill>
                  <a:srgbClr val="707070"/>
                </a:solidFill>
                <a:latin typeface="微软雅黑"/>
                <a:ea typeface="微软雅黑"/>
              </a:rPr>
              <a:t>口述:每一个问题都对应真实决策——部署碰壁体现韧性,精简版体现取舍,数据看板体现数据驱动。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